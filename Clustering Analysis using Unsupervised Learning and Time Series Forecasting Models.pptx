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Playfair Displ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A66618-2F6A-42EF-9382-FBD9295A8755}">
  <a:tblStyle styleId="{85A66618-2F6A-42EF-9382-FBD9295A87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layfairDispl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ayfairDisplay-bold.fntdata"/><Relationship Id="rId18" Type="http://schemas.openxmlformats.org/officeDocument/2006/relationships/font" Target="fonts/PlayfairDis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8ae9eb0e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8ae9eb0e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8ae9eb0e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8ae9eb0e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8ae9eb0e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8ae9eb0e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90fe2dea0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90fe2dea0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8ae9eb0e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8ae9eb0e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90fe2dea0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90fe2dea0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8ae9eb0e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8ae9eb0e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8ae9eb0e1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8ae9eb0e1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8ae9eb0e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8ae9eb0e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8ae9eb0e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8ae9eb0e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80"/>
              <a:t>Clustering Analysis using Unsupervised Learning and Time Series Forecasting Models</a:t>
            </a:r>
            <a:endParaRPr sz="24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By Yudhishtar Charan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</a:t>
            </a:r>
            <a:endParaRPr/>
          </a:p>
        </p:txBody>
      </p:sp>
      <p:graphicFrame>
        <p:nvGraphicFramePr>
          <p:cNvPr id="66" name="Google Shape;66;p14"/>
          <p:cNvGraphicFramePr/>
          <p:nvPr/>
        </p:nvGraphicFramePr>
        <p:xfrm>
          <a:off x="422260" y="10174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{85A66618-2F6A-42EF-9382-FBD9295A8755}</a:tableStyleId>
              </a:tblPr>
              <a:tblGrid>
                <a:gridCol w="944525"/>
                <a:gridCol w="3246500"/>
                <a:gridCol w="3246500"/>
              </a:tblGrid>
              <a:tr h="266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Feature Name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Description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Description</a:t>
                      </a:r>
                      <a:endParaRPr b="1"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date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Date of the weather observation. The format is YYYY-MM-DD.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Date of the weather observation. In sequence and unique.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meantempm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Mean temperature in degrees Celsius.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 peaks in KDE, no major outliers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meandewptm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Mean dew point temperature in degrees Celsius.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 peaks in KDE,no major outliers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meanpressurem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Mean atmospheric pressure in millibars.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 peaks in KDE,no major outliers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maxhumidity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Maximum humidity percentage during the day.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 peaks in KDE,no major outliers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minhumidity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Minimum humidity percentage during the day.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 peak in KDE, outliers are present. 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maxtempm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Maximum temperature in degrees Celsius.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 peak in KDE, no major outliers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mintempm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Minimum temperature in degrees Celsius.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 peaks in KDE, outliers are present.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maxdewptm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Maximum dew point temperature in degrees Celsius.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 peaks in KDE,no major outliers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mindewptm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Minimum dew point temperature in degrees Celsius.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 peaks in KDE,no major outliers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maxpressurem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Maximum atmospheric pressure in millibars.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 peaks in KDE,no major outliers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minpressurem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Minimum atmospheric pressure in millibars.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 peaks in KDE,no major outliers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precipm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Precipitation in millimeters.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 peak and a lot of outliers are present.</a:t>
                      </a:r>
                      <a:endParaRPr sz="8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and formatting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495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data is of the shape (679, 13).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variables apart from date (which is in object format) are in number format (int/float). We will need to change the date to datetime format.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nans and duplicates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Bivariate analysis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403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Temperature and pressure have a strong negative relationship, meaning</a:t>
            </a:r>
            <a:r>
              <a:rPr b="1" lang="en"/>
              <a:t> hot days usually come with lower pressure</a:t>
            </a:r>
            <a:r>
              <a:rPr lang="en"/>
              <a:t>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Temperature and humidity also move in opposite directions, so </a:t>
            </a:r>
            <a:r>
              <a:rPr b="1" lang="en"/>
              <a:t>when the temperature rises, the air tends to feel drier</a:t>
            </a:r>
            <a:r>
              <a:rPr lang="en"/>
              <a:t>.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Minimum temperature and dew point show a strong positive link, which means</a:t>
            </a:r>
            <a:r>
              <a:rPr b="1" lang="en"/>
              <a:t> nights stay warmer when there is more moisture in the air</a:t>
            </a:r>
            <a:r>
              <a:rPr lang="en"/>
              <a:t>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We also found that pressure and humidity are weakly related, with </a:t>
            </a:r>
            <a:r>
              <a:rPr b="1" lang="en"/>
              <a:t>higher-pressure days being slightly drier. </a:t>
            </a:r>
            <a:endParaRPr b="1"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Precipitation and humidity show a small positive relationship, which makes sense because </a:t>
            </a:r>
            <a:r>
              <a:rPr b="1" lang="en"/>
              <a:t>higher humidity increases the chances of rain. </a:t>
            </a:r>
            <a:endParaRPr b="1"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3619" y="324550"/>
            <a:ext cx="4578050" cy="449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2D projection of data using UMAP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908" y="1209175"/>
            <a:ext cx="4247451" cy="322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Results: KMeans (4 clusters)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11075"/>
            <a:ext cx="4301525" cy="3015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3225" y="1548988"/>
            <a:ext cx="4401125" cy="126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Results: GMM </a:t>
            </a:r>
            <a:r>
              <a:rPr lang="en"/>
              <a:t>(4 clusters)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50" y="1180050"/>
            <a:ext cx="4243425" cy="293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008" y="1427501"/>
            <a:ext cx="3505197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239425" y="391350"/>
            <a:ext cx="86484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Decomposing Trend, Seasonality and residue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5379600" y="1602180"/>
            <a:ext cx="350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trend is almost flat.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Mean temperature has a strong annual seasonal pattern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Residuals show the expected noise after removing partial seasonality and weak trend.</a:t>
            </a:r>
            <a:endParaRPr sz="1600"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892" y="1019948"/>
            <a:ext cx="4641356" cy="38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ARIMA to predict mean temperature</a:t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123" y="1062422"/>
            <a:ext cx="7446249" cy="323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ARIMAX to predict mean temperature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00" y="1113625"/>
            <a:ext cx="7321299" cy="324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1522350" y="1640350"/>
            <a:ext cx="6099300" cy="16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8480"/>
              <a:t>Thank You</a:t>
            </a:r>
            <a:endParaRPr sz="848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